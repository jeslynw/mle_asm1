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5029200" cy="5029200"/>
          </a:xfrm>
          <a:prstGeom prst="ellipse">
            <a:avLst/>
          </a:prstGeom>
          <a:solidFill>
            <a:srgbClr val="54BBC6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286000"/>
            <a:ext cx="3657600" cy="3657600"/>
          </a:xfrm>
          <a:prstGeom prst="ellipse">
            <a:avLst/>
          </a:prstGeom>
          <a:solidFill>
            <a:srgbClr val="BFD19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EEDEEE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CS611 · Machine Learning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A2A3A"/>
                </a:solidFill>
                <a:latin typeface="Calibri"/>
              </a:rPr>
              <a:t>Loan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4BBC6"/>
                </a:solidFill>
                <a:latin typeface="Calibri"/>
              </a:rPr>
              <a:t>Medallion Architecture Strategy &amp; Implementation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14800"/>
            <a:ext cx="82296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4BBC6"/>
                </a:solidFill>
                <a:latin typeface="Calibri"/>
              </a:rPr>
              <a:t>TL;DR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A monthly Bronze→Silver→Gold pipeline that turns 4 raw CSVs into an ML-ready feature store and label store for predicting loan default at application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By Jeslyn Wangsa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The problem we're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What we need, what 'done' looks like, who reads this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4BBC6"/>
                </a:solidFill>
                <a:latin typeface="Calibri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Bank lends cash loans; some borrowers default.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We need to score default risk at the moment of loan application, before any repayment data exists.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An ML model will do the scoring (next assignment); this project ships the data pipeline that feeds it.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Audience: ML engineers (will train the model), data engineers (will operate the pipeline), risk &amp; business stakeholders (need to trust the inputs).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4BBC6"/>
                </a:solidFill>
                <a:latin typeface="Calibri"/>
              </a:rPr>
              <a:t>Definition of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Three medallion layers — Bronze (raw), Silver (cleaned), Gold (ML-ready) — for every source.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Monthly snapshots from Jan 2023 to Dec 2024, idempotent and re-runnable.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One Gold feature store + one Gold label store, joinable on (Customer_ID, snapshot_date).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Zero target leakage: no post-application or repayment fields leak into features.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Reproducible via docker-compose up and python main.py.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Raw 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Four CSVs, semicolon-delimited, monthly snapshots Jan 2023 – Dec 2024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2011680"/>
                <a:gridCol w="57607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columns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feature_clickstream.csv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Customer_ID, snapshot_date, fe_1 … fe_20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feature_attributes.csv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Customer_ID, Name, Age, SSN, Occupation, snapshot_date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feature_financials.csv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 × month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Customer_ID, Annual_Income, Credit_Mix, Outstanding_Debt, EMI, snapshot_date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lms_loan_daily.csv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Label only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Loan × day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A2A2A"/>
                          </a:solidFill>
                          <a:latin typeface="Calibri"/>
                        </a:rPr>
                        <a:t>loan_id, Customer_ID, installment_num, overdue_amt, due_amt, snapshot_date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Why these splits matter for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Three feature files have very different update cadences and quality profiles, so each gets its own Bronze / Silver pipeline. The loan file is repayment history — usable only for labels, never for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End-to-end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Raw drop-zone → immutable Bronze → cleaned Silver → ML-ready Gold → downstream ML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325880"/>
            <a:ext cx="10058400" cy="42121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806440"/>
            <a:ext cx="164592" cy="365760"/>
          </a:xfrm>
          <a:prstGeom prst="rect">
            <a:avLst/>
          </a:prstGeom>
          <a:solidFill>
            <a:srgbClr val="D9B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Raw + Bronze: human-readable, easy to inspect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806440"/>
            <a:ext cx="164592" cy="365760"/>
          </a:xfrm>
          <a:prstGeom prst="rect">
            <a:avLst/>
          </a:prstGeom>
          <a:solidFill>
            <a:srgbClr val="C8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779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Parquet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Silver + Gold: typed, compressed, columnar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806440"/>
            <a:ext cx="164592" cy="365760"/>
          </a:xfrm>
          <a:prstGeom prst="rect">
            <a:avLst/>
          </a:prstGeom>
          <a:solidFill>
            <a:srgbClr val="E8C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779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Monthly partition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One file per snapshot_date — incremental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Bronze — raw landing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Slice once, store immutably, never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4BBC6"/>
                </a:solidFill>
                <a:latin typeface="Calibri"/>
              </a:rPr>
              <a:t>Three design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Monthly partitions — one file per snapshot_date. Reprocessing is incremental, not full-history.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CSV format preserved — keeps Bronze byte-identical to the source system so Silver fixes can never poison the raw record.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2A2A2A"/>
                </a:solidFill>
                <a:latin typeface="Calibri"/>
              </a:rPr>
              <a:t>•  Immutable on write — Bronze is the audit trail. Any Silver or Gold version can be reproduced from a frozen Bronze partition.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50292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4BBC6"/>
                </a:solidFill>
                <a:latin typeface="Calibri"/>
              </a:rPr>
              <a:t>Filename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onsolas"/>
              </a:rPr>
              <a:t>datamart/bronze/&lt;source&gt;/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onsolas"/>
              </a:rPr>
              <a:t>  bronze_&lt;source&gt;_YYYY_MM_01.csv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Consolas"/>
              </a:rPr>
              <a:t>datamart/bronze/clickstream/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Consolas"/>
              </a:rPr>
              <a:t>  bronze_clickstream_2023_01_01.csv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</a:rPr>
              <a:t>Driven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6B6B"/>
                </a:solidFill>
                <a:latin typeface="Consolas"/>
              </a:rPr>
              <a:t>utils/data_processing_bronze_table.py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754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2A2A2A"/>
                </a:solidFill>
                <a:latin typeface="Calibri"/>
              </a:rPr>
              <a:t>main.py loops Jan-2023 → Dec-2024 and writes one partition per source per month.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852160"/>
            <a:ext cx="11247120" cy="45720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879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No type casts, no filters, no joins at Bronze. The only operation is 'select * where snapshot_date = X'.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Silver — typed, cleaned, trustworthy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Parquet partitions with enforced schema and explicit data-quality rules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84632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Issue found in raw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36576" marB="36576">
                    <a:solidFill>
                      <a:srgbClr val="54BBC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Mixed / wrong data types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Cast each column to its target type (Int, Float, Date, String)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Downstream feature engineering needs a stable schema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PII — SSN, Name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Drop SSN; keep Name only if needed for ops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Legal &amp; privacy risk; SSN has no predictive value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Corrupted strings ("_______", "!@9#%8")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Drop the entire row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Looks like upstream encoding failure, not a missing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Trailing underscores ("45_", "_")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Strip and re-cast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Recoverable noise — preserve the signal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Numeric outliers (Age = 8000, Income &lt; 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Tukey IQR fences + domain bounds (Age 18–70)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Realistic loan applicants only; protects model from leverage points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Loan repayment fields (lms)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Compute mob (month-on-book) and dpd (days past due)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A2A2A"/>
                          </a:solidFill>
                          <a:latin typeface="Calibri"/>
                        </a:rPr>
                        <a:t>Engineered once at Silver so Gold label logic stays trivial</a:t>
                      </a:r>
                    </a:p>
                  </a:txBody>
                  <a:tcPr marL="73152" marR="73152" marT="36576" marB="36576">
                    <a:solidFill>
                      <a:srgbClr val="EEDE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852160"/>
            <a:ext cx="11247120" cy="45720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795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alibri"/>
              </a:rPr>
              <a:t>Output: datamart/silver/&lt;source&gt;/silver_&lt;source&gt;_YYYY_MM_01.parquet  ·  one directory per month, schema-on-write.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Gold — feature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Two tables, deliberately split by update cadence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feature_store_clickstream.parquet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20 numeric behaviour features (fe_1 … fe_20)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Grain: Customer_ID × snapshot_date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Real-time-ish — refreshed independently from batch sources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No engineered columns; trust the raw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D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feature_store_customer.parquet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INNER JOIN: silver attributes ⟕ financials on (Customer_ID, snapshot_date)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One-hot: Occupation, Credit_Mix, Payment_Behaviour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Type_of_Loan exploded into n_loans_&lt;type&gt; counts</a:t>
            </a:r>
          </a:p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Slow-changing snapshot — batch refresh on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4BBC6"/>
                </a:solidFill>
                <a:latin typeface="Calibri"/>
              </a:rPr>
              <a:t>Why two tables, not one?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Different update cadence — joining them at Gold would force the slower table to wait, or staleness to leak in.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Different ownership — attributes/financials come from core banking; clickstream comes from web analytics.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Joined on demand at training time via (Customer_ID, snapshot_date) — keeps storage normalised, joins explicit.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onsolas"/>
              </a:rPr>
              <a:t>Schema preview — feature_store_customer:  Customer_ID · snapshot_date · Age · Annual_Income · Outstanding_Debt · EMI · Credit_Mix_Good · Credit_Mix_Standard · n_loans_Personal · n_loans_Auto ·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Gold — label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One row per loan, binary default flag observed 6 months after origination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685800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C9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4BBC6"/>
                </a:solidFill>
                <a:latin typeface="Calibri"/>
              </a:rPr>
              <a:t>Label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</a:rPr>
              <a:t>Observation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onsolas"/>
              </a:rPr>
              <a:t>mob = 6   (the 6th payment after loan start)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</a:rPr>
              <a:t>Default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onsolas"/>
              </a:rPr>
              <a:t>dpd  &gt;= 30  →  label = 1   (defaulted)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onsolas"/>
              </a:rPr>
              <a:t>otherwise  →  label = 0   (current / paid)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</a:rPr>
              <a:t>Columns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A2A2A"/>
                </a:solidFill>
                <a:latin typeface="Consolas"/>
              </a:rPr>
              <a:t>loan_id · Customer_ID · label · label_def · snapshot_date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554480"/>
            <a:ext cx="4114800" cy="310896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</a:rPr>
              <a:t>Why mob = 6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103120"/>
            <a:ext cx="3657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Short enough to label most loans in the 24-month window.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Long enough that early-stage hiccups stop being noise.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2A2A2A"/>
                </a:solidFill>
                <a:latin typeface="Calibri"/>
              </a:rPr>
              <a:t>•  Standard industry vintage horizon for unsecured lending.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8229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Code 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57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</a:rPr>
              <a:t>Label-store logic reused from Lab 2 verbatim — same Silver→Gold transformation on lms_loan_daily, same mob/dpd thresholds, same output schema.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Joinable to either feature_store table on (Customer_ID, snapshot_date) for ML training.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Data leakage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Rule: every feature must be knowable strictly before the loan application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749039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749039" cy="45720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Target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474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Drop entire lms_loan_daily from features — it IS the answer (repayment history).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Drop Interest_Rate — set by the underwriter after seeing the risk score; encodes the label.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Re-check any 'Num_of_Delayed_Payment'-style fields: kept only when measured pre-application.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749039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3749039" cy="45720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Temporal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474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Snapshot_date is the as-of cut. We never join a feature row from t+1 to a loan applied at t.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Monthly partitions enforce the cut physically: a Jan-2023 training run only reads ≤ 2023-01-01 files.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Clickstream &amp; financials are user-level snapshots — confirmed safe.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749039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4B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749039" cy="45720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Train-test contamination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03120"/>
            <a:ext cx="34747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Feature engineering is fit per partition, not across the whole table.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No global means / scalers computed at Gold — that work belongs to the ML pipeline, after the split.</a:t>
            </a:r>
          </a:p>
          <a:p>
            <a:pPr algn="l">
              <a:lnSpc>
                <a:spcPct val="12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Same Customer_ID can appear in train and test, but only at different snapshot_dates.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Sanity check (recommended by brief)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alibri"/>
              </a:rPr>
              <a:t>Fit a simple logistic regression on Gold feature_store ⋈ label_store. If AUC is implausibly high (&gt; 0.95) on held-out months, suspect a leaky column and trace it back through Silver.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64592" cy="50292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502920"/>
            <a:ext cx="502920" cy="36576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A3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4114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Calibri"/>
              </a:rPr>
              <a:t>Tech stack, repo &amp; how to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93268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Reproducible end-to-end in one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4BBC6"/>
                </a:solidFill>
                <a:latin typeface="Calibri"/>
              </a:rPr>
              <a:t>Tech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1417320" cy="411480"/>
          </a:xfrm>
          <a:prstGeom prst="round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Python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965960"/>
            <a:ext cx="1417320" cy="411480"/>
          </a:xfrm>
          <a:prstGeom prst="roundRect">
            <a:avLst/>
          </a:prstGeom>
          <a:solidFill>
            <a:srgbClr val="BFD1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PySpark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965960"/>
            <a:ext cx="1417320" cy="41148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965960"/>
            <a:ext cx="1417320" cy="411480"/>
          </a:xfrm>
          <a:prstGeom prst="roundRect">
            <a:avLst/>
          </a:prstGeom>
          <a:solidFill>
            <a:srgbClr val="BA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JupyterLab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965960"/>
            <a:ext cx="1417320" cy="411480"/>
          </a:xfrm>
          <a:prstGeom prst="roundRect">
            <a:avLst/>
          </a:prstGeom>
          <a:solidFill>
            <a:srgbClr val="E8C9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Parquet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965960"/>
            <a:ext cx="1417320" cy="411480"/>
          </a:xfrm>
          <a:prstGeom prst="roundRect">
            <a:avLst/>
          </a:prstGeom>
          <a:solidFill>
            <a:srgbClr val="C8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A2A3A"/>
                </a:solidFill>
                <a:latin typeface="Calibri"/>
              </a:rPr>
              <a:t>Git / GitHub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51760"/>
            <a:ext cx="713232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7432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4BBC6"/>
                </a:solidFill>
                <a:latin typeface="Calibri"/>
              </a:rPr>
              <a:t>How to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15468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onsolas"/>
              </a:rPr>
              <a:t>1.  git clone &lt;repo&gt;  &amp;&amp;  cd &lt;repo&gt;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41071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clone the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8503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onsolas"/>
              </a:rPr>
              <a:t>2.  docker-compose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941064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build the Spark + Jupyter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15384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onsolas"/>
              </a:rPr>
              <a:t>3.  docker-compose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71416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launches JupyterLab on http://localhost:8888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45736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onsolas"/>
              </a:rPr>
              <a:t>4.  python main.py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0176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loops Jan-23 → Dec-24, writes datamart/{bronze,silver,gold}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76088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Consolas"/>
              </a:rPr>
              <a:t>5.  Inspect datamart/gold/ for ML-ready Parquet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53212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Calibri"/>
              </a:rPr>
              <a:t>feature &amp; label stores land 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2651760"/>
            <a:ext cx="3931920" cy="3383280"/>
          </a:xfrm>
          <a:prstGeom prst="roundRect">
            <a:avLst/>
          </a:prstGeom>
          <a:solidFill>
            <a:srgbClr val="EED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2743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2A3A"/>
                </a:solidFill>
                <a:latin typeface="Calibri"/>
              </a:rPr>
              <a:t>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A2A2A"/>
                </a:solidFill>
                <a:latin typeface="Consolas"/>
              </a:rPr>
              <a:t>github.com/&lt;your-handle&gt;/MLE_ASM1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4747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(see Readme.txt in submission zip)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41148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2A3A"/>
                </a:solidFill>
                <a:latin typeface="Calibri"/>
              </a:rPr>
              <a:t>Deliverables in zip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48056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main.py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Dockerfile · docker-compose.yaml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requirements.txt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utils/ · data/</a:t>
            </a:r>
          </a:p>
          <a:p>
            <a:pPr algn="l">
              <a:lnSpc>
                <a:spcPct val="115000"/>
              </a:lnSpc>
            </a:pPr>
            <a:r>
              <a:rPr sz="1050">
                <a:solidFill>
                  <a:srgbClr val="2A2A2A"/>
                </a:solidFill>
                <a:latin typeface="Calibri"/>
              </a:rPr>
              <a:t>•  Readme.txt (repo link)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126480"/>
            <a:ext cx="11247120" cy="228600"/>
          </a:xfrm>
          <a:prstGeom prst="rect">
            <a:avLst/>
          </a:prstGeom>
          <a:solidFill>
            <a:srgbClr val="54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CS611 · MLE Assignment 1 · Medallion Pipeline · Jeslyn Wangsa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